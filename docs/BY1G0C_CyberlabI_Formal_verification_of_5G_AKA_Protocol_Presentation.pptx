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9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5" r:id="rId5"/>
    <p:sldId id="264" r:id="rId6"/>
    <p:sldId id="266" r:id="rId7"/>
    <p:sldId id="268" r:id="rId8"/>
    <p:sldId id="267" r:id="rId9"/>
    <p:sldId id="269" r:id="rId10"/>
    <p:sldId id="270" r:id="rId11"/>
    <p:sldId id="271" r:id="rId12"/>
    <p:sldId id="260" r:id="rId13"/>
    <p:sldId id="259" r:id="rId14"/>
    <p:sldId id="261" r:id="rId15"/>
    <p:sldId id="263" r:id="rId16"/>
  </p:sldIdLst>
  <p:sldSz cx="18288000" cy="10287000"/>
  <p:notesSz cx="6858000" cy="9144000"/>
  <p:embeddedFontLst>
    <p:embeddedFont>
      <p:font typeface="Playfair Display 1" panose="020B0604020202020204" charset="0"/>
      <p:regular r:id="rId19"/>
    </p:embeddedFont>
    <p:embeddedFont>
      <p:font typeface="Wingdings 2" panose="05020102010507070707" pitchFamily="18" charset="2"/>
      <p:regular r:id="rId20"/>
    </p:embeddedFont>
    <p:embeddedFont>
      <p:font typeface="Public Sans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ublic Sans" panose="020B0604020202020204" charset="0"/>
      <p:regular r:id="rId26"/>
    </p:embeddedFont>
    <p:embeddedFont>
      <p:font typeface="Century Schoolbook" panose="02040604050505020304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22" autoAdjust="0"/>
  </p:normalViewPr>
  <p:slideViewPr>
    <p:cSldViewPr>
      <p:cViewPr varScale="1">
        <p:scale>
          <a:sx n="55" d="100"/>
          <a:sy n="55" d="100"/>
        </p:scale>
        <p:origin x="83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FC84A-9E38-45BE-8EEF-D999B5CCA205}" type="datetimeFigureOut">
              <a:rPr lang="en-GB" smtClean="0"/>
              <a:t>21/06/2025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NOUR HMEEDAN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59851-63FC-4C40-AFCB-DCF9D0EE43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5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CC184-C6E7-4E21-9FF6-B82C7B64FEC8}" type="datetimeFigureOut">
              <a:rPr lang="en-GB" smtClean="0"/>
              <a:t>21/06/2025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NOUR HMEEDAN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B7215-8E92-4D15-8A7F-B9E774B55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4003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6B7215-8E92-4D15-8A7F-B9E774B55F5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523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6B7215-8E92-4D15-8A7F-B9E774B55F5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911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6B7215-8E92-4D15-8A7F-B9E774B55F5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51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2808" y="1138428"/>
            <a:ext cx="14127480" cy="606247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08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2808" y="7200900"/>
            <a:ext cx="14127480" cy="2537460"/>
          </a:xfrm>
        </p:spPr>
        <p:txBody>
          <a:bodyPr>
            <a:normAutofit/>
          </a:bodyPr>
          <a:lstStyle>
            <a:lvl1pPr marL="0" indent="0" algn="l">
              <a:buNone/>
              <a:defRPr sz="3300" baseline="0">
                <a:solidFill>
                  <a:schemeClr val="tx1">
                    <a:lumMod val="75000"/>
                  </a:schemeClr>
                </a:solidFill>
              </a:defRPr>
            </a:lvl1pPr>
            <a:lvl2pPr marL="685800" indent="0" algn="ctr">
              <a:buNone/>
              <a:defRPr sz="3300"/>
            </a:lvl2pPr>
            <a:lvl3pPr marL="1371600" indent="0" algn="ctr">
              <a:buNone/>
              <a:defRPr sz="33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1DC7D72-82CF-48EE-A2F5-D89C2EDB2ED1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858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8288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A0EE-D491-4D43-A313-FE332C2DF48D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808" y="1138428"/>
            <a:ext cx="14127480" cy="6062472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10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2808" y="7200900"/>
            <a:ext cx="14127480" cy="2537460"/>
          </a:xfrm>
        </p:spPr>
        <p:txBody>
          <a:bodyPr anchor="t">
            <a:normAutofit/>
          </a:bodyPr>
          <a:lstStyle>
            <a:lvl1pPr marL="0" indent="0">
              <a:buNone/>
              <a:defRPr sz="3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DAE42-4C56-4B46-8B00-43EA80795AC9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858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015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2808" y="2743201"/>
            <a:ext cx="6720840" cy="6527006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89720" y="2743201"/>
            <a:ext cx="6720840" cy="6527006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03E9-0797-442E-9767-0BCC4EFDA111}" type="datetime1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3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2808" y="2570483"/>
            <a:ext cx="6720840" cy="109728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000" b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2808" y="3761325"/>
            <a:ext cx="6720840" cy="5496975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89720" y="2570483"/>
            <a:ext cx="6720840" cy="109728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3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3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89720" y="3761325"/>
            <a:ext cx="6720840" cy="5496975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B4E2-DA56-4485-ADD1-977B6AB2A25E}" type="datetime1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D55F-58D2-41FE-965D-BFCCA5698546}" type="datetime1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0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24F2-E28D-4E46-ABD0-6D1C154B9217}" type="datetime1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3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685801"/>
            <a:ext cx="4800600" cy="2400296"/>
          </a:xfrm>
        </p:spPr>
        <p:txBody>
          <a:bodyPr anchor="b">
            <a:normAutofit/>
          </a:bodyPr>
          <a:lstStyle>
            <a:lvl1pPr>
              <a:defRPr sz="48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6401" y="1028700"/>
            <a:ext cx="9118599" cy="822960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872" y="3149602"/>
            <a:ext cx="4800600" cy="5715002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1200"/>
              </a:spcBef>
              <a:buNone/>
              <a:defRPr sz="195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0FDC6-DE67-4319-897D-41E626E8EC08}" type="datetime1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7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7658100"/>
            <a:ext cx="16939260" cy="262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7886700"/>
            <a:ext cx="14973300" cy="1371600"/>
          </a:xfrm>
        </p:spPr>
        <p:txBody>
          <a:bodyPr anchor="b">
            <a:normAutofit/>
          </a:bodyPr>
          <a:lstStyle>
            <a:lvl1pPr>
              <a:defRPr sz="42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16939260" cy="7693385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9162884"/>
            <a:ext cx="14973300" cy="8955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950">
                <a:solidFill>
                  <a:schemeClr val="bg1">
                    <a:lumMod val="85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DA430-2887-4782-83C6-3DB7DA0E3975}" type="datetime1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0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4C5-079D-4935-8848-D0EACAEE60E6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0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73050" y="571500"/>
            <a:ext cx="3714750" cy="88463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571500"/>
            <a:ext cx="11601450" cy="884634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6FDB-FA97-4BC4-A7FD-2F4F76A4F97A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939260" y="0"/>
            <a:ext cx="1371600" cy="10287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2808" y="548640"/>
            <a:ext cx="14538960" cy="19883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2808" y="2743201"/>
            <a:ext cx="12893040" cy="6527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6196314" y="1497806"/>
            <a:ext cx="28574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0258E43-875C-4642-AADB-12CCC5AA0E79}" type="datetime1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4939012" y="6069806"/>
            <a:ext cx="53721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939260" y="9258301"/>
            <a:ext cx="1371600" cy="890588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5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3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 spc="-7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371600" rtl="0" eaLnBrk="1" latinLnBrk="0" hangingPunct="1">
        <a:lnSpc>
          <a:spcPct val="95000"/>
        </a:lnSpc>
        <a:spcBef>
          <a:spcPts val="2100"/>
        </a:spcBef>
        <a:spcAft>
          <a:spcPts val="300"/>
        </a:spcAft>
        <a:buClr>
          <a:schemeClr val="accent1"/>
        </a:buClr>
        <a:buSzPct val="80000"/>
        <a:buFont typeface="Arial" pitchFamily="34" charset="0"/>
        <a:buChar char="•"/>
        <a:defRPr sz="2700" kern="1200" spc="15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97280" indent="-27432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27432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20240" indent="-27432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400000" indent="-34290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850000" indent="-34290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300000" indent="-34290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750000" indent="-342900" algn="l" defTabSz="1371600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2496800" y="7277100"/>
            <a:ext cx="3927933" cy="1550355"/>
          </a:xfrm>
          <a:custGeom>
            <a:avLst/>
            <a:gdLst/>
            <a:ahLst/>
            <a:cxnLst/>
            <a:rect l="l" t="t" r="r" b="b"/>
            <a:pathLst>
              <a:path w="3927933" h="1550355">
                <a:moveTo>
                  <a:pt x="0" y="0"/>
                </a:moveTo>
                <a:lnTo>
                  <a:pt x="3927934" y="0"/>
                </a:lnTo>
                <a:lnTo>
                  <a:pt x="3927934" y="1550355"/>
                </a:lnTo>
                <a:lnTo>
                  <a:pt x="0" y="155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0" b="-463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06882" y="4766892"/>
            <a:ext cx="5722761" cy="91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 b="1" spc="457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BY:</a:t>
            </a:r>
          </a:p>
          <a:p>
            <a:pPr algn="l">
              <a:lnSpc>
                <a:spcPts val="4640"/>
              </a:lnSpc>
              <a:spcBef>
                <a:spcPct val="0"/>
              </a:spcBef>
            </a:pPr>
            <a:r>
              <a:rPr lang="en-US" sz="3314" b="1" spc="752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NOUR HMEEDAN                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1189294"/>
            <a:ext cx="16408332" cy="29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endParaRPr dirty="0"/>
          </a:p>
          <a:p>
            <a:pPr algn="ctr">
              <a:lnSpc>
                <a:spcPts val="4550"/>
              </a:lnSpc>
            </a:pPr>
            <a:r>
              <a:rPr lang="en-US" sz="5000" spc="25" dirty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Formal verification of the 5G AKA protocol using the Tamarin Prover</a:t>
            </a:r>
          </a:p>
          <a:p>
            <a:pPr algn="ctr">
              <a:lnSpc>
                <a:spcPts val="4550"/>
              </a:lnSpc>
            </a:pPr>
            <a:endParaRPr lang="en-US" sz="5000" spc="25" dirty="0">
              <a:solidFill>
                <a:srgbClr val="2B2C30"/>
              </a:solidFill>
              <a:latin typeface="Playfair Display 1"/>
              <a:ea typeface="Playfair Display 1"/>
              <a:cs typeface="Playfair Display 1"/>
              <a:sym typeface="Playfair Display 1"/>
            </a:endParaRPr>
          </a:p>
          <a:p>
            <a:pPr algn="ctr">
              <a:lnSpc>
                <a:spcPts val="4550"/>
              </a:lnSpc>
            </a:pPr>
            <a:r>
              <a:rPr lang="en-US" sz="5000" spc="25" dirty="0" smtClean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Cybersecurity Lab </a:t>
            </a:r>
            <a:r>
              <a:rPr lang="en-US" sz="5000" spc="25" dirty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I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6932" y="7838917"/>
            <a:ext cx="7862435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23 June 2025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02355" y="4792063"/>
            <a:ext cx="6735128" cy="107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046" b="1" spc="46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SUPERVISOR :</a:t>
            </a:r>
          </a:p>
          <a:p>
            <a:pPr algn="l">
              <a:lnSpc>
                <a:spcPts val="3425"/>
              </a:lnSpc>
            </a:pPr>
            <a:r>
              <a:rPr lang="en-US" sz="2446" b="1" spc="55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DR. MOHAMMED ALSHAWKI</a:t>
            </a:r>
          </a:p>
          <a:p>
            <a:pPr algn="l">
              <a:lnSpc>
                <a:spcPts val="2305"/>
              </a:lnSpc>
              <a:spcBef>
                <a:spcPct val="0"/>
              </a:spcBef>
            </a:pPr>
            <a:endParaRPr lang="en-US" sz="2446" b="1" spc="555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6916400" y="9258300"/>
            <a:ext cx="1371600" cy="89058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1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95" y="561540"/>
            <a:ext cx="14803498" cy="116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489"/>
              </a:lnSpc>
            </a:pPr>
            <a:r>
              <a:rPr lang="en-US" sz="4400" b="1" i="1" spc="40" dirty="0" smtClean="0">
                <a:solidFill>
                  <a:srgbClr val="2B2C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 1"/>
                <a:ea typeface="Playfair Display 1"/>
                <a:cs typeface="Playfair Display 1"/>
                <a:sym typeface="Playfair Display 1"/>
              </a:rPr>
              <a:t>Lab Summary </a:t>
            </a:r>
            <a:r>
              <a:rPr lang="en-US" sz="4400" b="1" i="1" spc="40" dirty="0">
                <a:solidFill>
                  <a:srgbClr val="2B2C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 1"/>
                <a:ea typeface="Playfair Display 1"/>
                <a:cs typeface="Playfair Display 1"/>
                <a:sym typeface="Playfair Display 1"/>
              </a:rPr>
              <a:t>&amp; Context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6754" y="2171700"/>
            <a:ext cx="16119462" cy="610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2800" spc="18" dirty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• 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Goal: Formally verification of the 5G AKA authentication protocol.</a:t>
            </a:r>
          </a:p>
          <a:p>
            <a:pPr algn="l">
              <a:lnSpc>
                <a:spcPts val="4768"/>
              </a:lnSpc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• Tool: Tamarin Prover 1.11.0 on WSL2 (Ubuntu 24.04).</a:t>
            </a:r>
          </a:p>
          <a:p>
            <a:pPr algn="l">
              <a:lnSpc>
                <a:spcPts val="4768"/>
              </a:lnSpc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• Model: Adapted 5G_AKA_fix.spthy from Tamarin's example models</a:t>
            </a:r>
          </a:p>
          <a:p>
            <a:pPr algn="l">
              <a:lnSpc>
                <a:spcPts val="4768"/>
              </a:lnSpc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• Focus Areas:</a:t>
            </a:r>
          </a:p>
          <a:p>
            <a:pPr marL="1943100" lvl="3" indent="-571500">
              <a:lnSpc>
                <a:spcPts val="4768"/>
              </a:lnSpc>
              <a:buFont typeface="Wingdings" panose="05000000000000000000" pitchFamily="2" charset="2"/>
              <a:buChar char="v"/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 </a:t>
            </a:r>
            <a:r>
              <a:rPr lang="en-US" sz="24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Injective 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agreement on </a:t>
            </a:r>
            <a:r>
              <a:rPr lang="en-US" sz="2400" spc="18" dirty="0" err="1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K_seaf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.</a:t>
            </a:r>
          </a:p>
          <a:p>
            <a:pPr marL="1943100" lvl="3" indent="-571500">
              <a:lnSpc>
                <a:spcPts val="4768"/>
              </a:lnSpc>
              <a:buFont typeface="Wingdings" panose="05000000000000000000" pitchFamily="2" charset="2"/>
              <a:buChar char="v"/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 </a:t>
            </a:r>
            <a:r>
              <a:rPr lang="en-US" sz="24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Simulation 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of SUPI leakage and prevention.</a:t>
            </a:r>
          </a:p>
          <a:p>
            <a:pPr marL="1943100" lvl="3" indent="-571500">
              <a:lnSpc>
                <a:spcPts val="4768"/>
              </a:lnSpc>
              <a:buFont typeface="Wingdings" panose="05000000000000000000" pitchFamily="2" charset="2"/>
              <a:buChar char="v"/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 </a:t>
            </a:r>
            <a:r>
              <a:rPr lang="en-US" sz="24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Tamarin-based 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security lemma validation.</a:t>
            </a:r>
          </a:p>
          <a:p>
            <a:pPr algn="l">
              <a:lnSpc>
                <a:spcPts val="4768"/>
              </a:lnSpc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• Objective:</a:t>
            </a:r>
          </a:p>
          <a:p>
            <a:pPr algn="l">
              <a:lnSpc>
                <a:spcPts val="4768"/>
              </a:lnSpc>
            </a:pP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	</a:t>
            </a:r>
            <a:r>
              <a:rPr lang="en-US" sz="24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Ensure </a:t>
            </a:r>
            <a:r>
              <a:rPr lang="en-US" sz="24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security properties: confidentiality, authentication, replay </a:t>
            </a:r>
            <a:r>
              <a:rPr lang="en-US" sz="24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protection</a:t>
            </a:r>
            <a:r>
              <a:rPr lang="en-US" sz="2800" spc="18" dirty="0" smtClean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.</a:t>
            </a:r>
            <a:endParaRPr lang="en-US" sz="2800" spc="18" dirty="0">
              <a:solidFill>
                <a:srgbClr val="2B2C30"/>
              </a:solidFill>
              <a:latin typeface="Playfair Display 1"/>
              <a:ea typeface="Playfair Display 1"/>
              <a:cs typeface="Playfair Display 1"/>
              <a:sym typeface="Playfair Display 1"/>
            </a:endParaRPr>
          </a:p>
          <a:p>
            <a:pPr algn="ctr">
              <a:lnSpc>
                <a:spcPts val="4768"/>
              </a:lnSpc>
            </a:pPr>
            <a:endParaRPr lang="en-US" sz="3668" spc="18" dirty="0">
              <a:solidFill>
                <a:srgbClr val="2B2C30"/>
              </a:solidFill>
              <a:latin typeface="Playfair Display 1"/>
              <a:ea typeface="Playfair Display 1"/>
              <a:cs typeface="Playfair Display 1"/>
              <a:sym typeface="Playfair Display 1"/>
            </a:endParaRPr>
          </a:p>
        </p:txBody>
      </p:sp>
      <p:sp>
        <p:nvSpPr>
          <p:cNvPr id="6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2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2106676"/>
            <a:ext cx="14428484" cy="683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spc="20" dirty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• 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CCS 2018: "A Formal Analysis of 5G Authentication"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D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. Basin et al., Proceedings of ACM CCS (https://doi.org/10.1145/3243734.3243846)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Provided 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the original Tamarin model used in this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Lab.</a:t>
            </a:r>
            <a:endParaRPr lang="en-US" sz="2000" spc="18" dirty="0">
              <a:solidFill>
                <a:srgbClr val="2B2C30"/>
              </a:solidFill>
              <a:ea typeface="Playfair Display 1"/>
              <a:cs typeface="Playfair Display 1"/>
              <a:sym typeface="Playfair Display 1"/>
            </a:endParaRPr>
          </a:p>
          <a:p>
            <a:pPr>
              <a:lnSpc>
                <a:spcPct val="200000"/>
              </a:lnSpc>
            </a:pP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• 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Additional Foundations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3GPP 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TS 33.501: 5G Security Architecture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Standard.</a:t>
            </a:r>
            <a:endParaRPr lang="en-US" sz="2000" spc="18" dirty="0">
              <a:solidFill>
                <a:srgbClr val="2B2C30"/>
              </a:solidFill>
              <a:ea typeface="Playfair Display 1"/>
              <a:cs typeface="Playfair Display 1"/>
              <a:sym typeface="Playfair Display 1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Research </a:t>
            </a: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on SUPI leakage and anonymity attacks in </a:t>
            </a:r>
            <a:r>
              <a:rPr 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5G/LTE.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Public Protocol Model Source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  GitHub Repository:</a:t>
            </a:r>
          </a:p>
          <a:p>
            <a:pPr>
              <a:lnSpc>
                <a:spcPct val="200000"/>
              </a:lnSpc>
            </a:pPr>
            <a:r>
              <a:rPr lang="en-US" sz="2000" spc="18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		github.com/tamarin-prover/tamarin-prover/blob/develop/examples/ccs18-5G/5G_AKA_fix.spthy</a:t>
            </a:r>
          </a:p>
          <a:p>
            <a:pPr lvl="1">
              <a:lnSpc>
                <a:spcPct val="200000"/>
              </a:lnSpc>
            </a:pPr>
            <a:endParaRPr lang="en-US" sz="2000" spc="18" dirty="0">
              <a:solidFill>
                <a:srgbClr val="2B2C30"/>
              </a:solidFill>
              <a:ea typeface="Playfair Display 1"/>
              <a:cs typeface="Playfair Display 1"/>
              <a:sym typeface="Playfair Display 1"/>
            </a:endParaRPr>
          </a:p>
          <a:p>
            <a:pPr marL="742950" lvl="1" indent="-285750">
              <a:lnSpc>
                <a:spcPts val="5291"/>
              </a:lnSpc>
              <a:buFont typeface="Wingdings" panose="05000000000000000000" pitchFamily="2" charset="2"/>
              <a:buChar char="v"/>
            </a:pPr>
            <a:endParaRPr lang="en-US" sz="1600" spc="18" dirty="0">
              <a:solidFill>
                <a:srgbClr val="2B2C30"/>
              </a:solidFill>
              <a:latin typeface="Playfair Display 1"/>
              <a:ea typeface="Playfair Display 1"/>
              <a:cs typeface="Playfair Display 1"/>
              <a:sym typeface="Playfair Display 1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4400" b="1" i="1" spc="40" dirty="0" smtClean="0">
                <a:solidFill>
                  <a:srgbClr val="2B2C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 1"/>
                <a:ea typeface="Playfair Display 1"/>
                <a:cs typeface="Playfair Display 1"/>
                <a:sym typeface="Public Sans Bold"/>
              </a:rPr>
              <a:t>Related Work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3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4400" dirty="0"/>
              <a:t>5G AKA Protocol </a:t>
            </a:r>
            <a:r>
              <a:rPr lang="en-GB" sz="4400" dirty="0" smtClean="0"/>
              <a:t>Steps: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colorTemperature colorTemp="7729"/>
                    </a14:imgEffect>
                    <a14:imgEffect>
                      <a14:saturation sat="108000"/>
                    </a14:imgEffect>
                    <a14:imgEffect>
                      <a14:brightnessContrast bright="-2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39200" y="2242267"/>
            <a:ext cx="7460077" cy="7012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/>
          <p:cNvSpPr/>
          <p:nvPr/>
        </p:nvSpPr>
        <p:spPr>
          <a:xfrm>
            <a:off x="609600" y="2632313"/>
            <a:ext cx="7899458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Goal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Authenticate the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UE 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with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the HN 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via the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SN 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and establish a session key (Kₛₑₛₛ) securely.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Phases: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ea typeface="Playfair Display 1"/>
                <a:cs typeface="Playfair Display 1"/>
              </a:rPr>
              <a:t>Identification</a:t>
            </a:r>
            <a:r>
              <a:rPr lang="en-US" altLang="en-US" sz="2000" spc="18" dirty="0">
                <a:ea typeface="Playfair Display 1"/>
                <a:cs typeface="Playfair Display 1"/>
              </a:rPr>
              <a:t>: UE sends encrypted SUPI using </a:t>
            </a:r>
            <a:r>
              <a:rPr lang="en-US" altLang="en-US" sz="2000" spc="18" dirty="0" err="1">
                <a:ea typeface="Playfair Display 1"/>
                <a:cs typeface="Playfair Display 1"/>
              </a:rPr>
              <a:t>pk_HN</a:t>
            </a:r>
            <a:r>
              <a:rPr lang="en-US" altLang="en-US" sz="2000" spc="18" dirty="0">
                <a:ea typeface="Playfair Display 1"/>
                <a:cs typeface="Playfair Display 1"/>
              </a:rPr>
              <a:t> to begin authentication.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Challenge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HN generates challenge using key K, sequence number SQN, and random value R.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Verification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UE checks freshness and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authenticity, Responds 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with </a:t>
            </a:r>
            <a:r>
              <a:rPr lang="en-US" altLang="en-US" sz="2000" spc="18" dirty="0" err="1">
                <a:solidFill>
                  <a:srgbClr val="2B2C30"/>
                </a:solidFill>
                <a:ea typeface="Playfair Display 1"/>
                <a:cs typeface="Playfair Display 1"/>
              </a:rPr>
              <a:t>XRes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 if valid.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Paths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Success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Sync-Failure.</a:t>
            </a:r>
            <a:endParaRPr lang="en-US" altLang="en-US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MAC-Failure.</a:t>
            </a:r>
            <a:endParaRPr lang="en-US" altLang="en-US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37309" y="7009566"/>
            <a:ext cx="8229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This flow highlights the robustness of 5G AKA while showing points where attacks (</a:t>
            </a: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like SUPI leakage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) may occur under altered assumptions.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063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remium Vector | 5g network wireless system wifi connection, high-spee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400" y="2363596"/>
            <a:ext cx="3886200" cy="3886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sp>
        <p:nvSpPr>
          <p:cNvPr id="4" name="Rectangle 3"/>
          <p:cNvSpPr/>
          <p:nvPr/>
        </p:nvSpPr>
        <p:spPr>
          <a:xfrm>
            <a:off x="685800" y="2675480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Over </a:t>
            </a:r>
            <a:r>
              <a:rPr lang="en-GB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4.8 billion users rely on secure mobile communication(60% of global population</a:t>
            </a:r>
            <a:r>
              <a:rPr lang="en-GB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).</a:t>
            </a:r>
          </a:p>
          <a:p>
            <a:endParaRPr lang="en-GB" sz="2000" spc="18" dirty="0" smtClean="0">
              <a:solidFill>
                <a:srgbClr val="2B2C30"/>
              </a:solidFill>
              <a:ea typeface="Playfair Display 1"/>
              <a:cs typeface="Playfair Display 1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Challenge</a:t>
            </a:r>
            <a:r>
              <a:rPr lang="en-GB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</a:t>
            </a:r>
            <a:r>
              <a:rPr lang="en-GB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Determining </a:t>
            </a:r>
            <a:r>
              <a:rPr lang="en-GB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which security guarantees are actually met in 5G AKA under formal </a:t>
            </a:r>
            <a:r>
              <a:rPr lang="en-GB" sz="2000" spc="18" dirty="0" err="1">
                <a:solidFill>
                  <a:srgbClr val="2B2C30"/>
                </a:solidFill>
                <a:ea typeface="Playfair Display 1"/>
                <a:cs typeface="Playfair Display 1"/>
              </a:rPr>
              <a:t>modeling</a:t>
            </a:r>
            <a:r>
              <a:rPr lang="en-GB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 </a:t>
            </a:r>
            <a:r>
              <a:rPr lang="en-GB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assumptions.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8695" y="958445"/>
            <a:ext cx="91743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dirty="0"/>
              <a:t>5G Authentication and Motivation</a:t>
            </a:r>
          </a:p>
        </p:txBody>
      </p:sp>
      <p:sp>
        <p:nvSpPr>
          <p:cNvPr id="8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Rectangle 5"/>
          <p:cNvSpPr/>
          <p:nvPr/>
        </p:nvSpPr>
        <p:spPr>
          <a:xfrm>
            <a:off x="588818" y="5255000"/>
            <a:ext cx="109797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📘 </a:t>
            </a:r>
            <a:r>
              <a:rPr lang="en-GB" sz="2000" b="1" dirty="0"/>
              <a:t>The original 5G specification</a:t>
            </a:r>
            <a:r>
              <a:rPr lang="en-GB" sz="2000" dirty="0"/>
              <a:t>, written by 3GPP, is very long (around 700 pages) and written in natural language which may include ambiguities or lack formal precision.</a:t>
            </a:r>
          </a:p>
        </p:txBody>
      </p:sp>
      <p:cxnSp>
        <p:nvCxnSpPr>
          <p:cNvPr id="10" name="Elbow Connector 9"/>
          <p:cNvCxnSpPr/>
          <p:nvPr/>
        </p:nvCxnSpPr>
        <p:spPr>
          <a:xfrm rot="5400000">
            <a:off x="1092456" y="6029629"/>
            <a:ext cx="1244088" cy="990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36" y="7346534"/>
            <a:ext cx="1428788" cy="1242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800" y="8675516"/>
            <a:ext cx="2636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Tamarin Prover</a:t>
            </a:r>
            <a:endParaRPr lang="en-GB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Elbow Connector 15"/>
          <p:cNvCxnSpPr/>
          <p:nvPr/>
        </p:nvCxnSpPr>
        <p:spPr>
          <a:xfrm flipV="1">
            <a:off x="2348345" y="7118339"/>
            <a:ext cx="3105188" cy="436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2324791" y="8214005"/>
            <a:ext cx="3105188" cy="4294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76900" y="6846813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Dolev-Yao model</a:t>
            </a:r>
            <a:r>
              <a:rPr lang="en-GB" sz="2000" dirty="0"/>
              <a:t>: assumes an attacker with full control of the network, enabling worst-case scenario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5546" y="8289462"/>
            <a:ext cx="9144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b="1" dirty="0"/>
              <a:t>Challenges</a:t>
            </a:r>
            <a:r>
              <a:rPr lang="en-GB" sz="2000" dirty="0"/>
              <a:t>: encoding protocol logic, managing state complexity, and guiding automated proof </a:t>
            </a:r>
            <a:r>
              <a:rPr lang="en-GB" sz="2000" dirty="0" smtClean="0"/>
              <a:t>search.</a:t>
            </a:r>
            <a:endParaRPr lang="en-GB" sz="2000" dirty="0"/>
          </a:p>
        </p:txBody>
      </p:sp>
      <p:sp>
        <p:nvSpPr>
          <p:cNvPr id="27" name="Rectangle 26"/>
          <p:cNvSpPr/>
          <p:nvPr/>
        </p:nvSpPr>
        <p:spPr>
          <a:xfrm>
            <a:off x="588818" y="6052303"/>
            <a:ext cx="9144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Translation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244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1" grpId="0"/>
      <p:bldP spid="22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4400" dirty="0"/>
              <a:t>Formal Verification Workflow in 5G AKA</a:t>
            </a:r>
            <a:r>
              <a:rPr lang="en-GB" sz="4400" dirty="0" smtClean="0"/>
              <a:t>: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649578"/>
            <a:ext cx="9372600" cy="2755625"/>
          </a:xfrm>
          <a:prstGeom prst="rect">
            <a:avLst/>
          </a:prstGeom>
          <a:noFill/>
          <a:effectLst>
            <a:glow rad="127000">
              <a:schemeClr val="bg2"/>
            </a:glow>
          </a:effectLst>
        </p:spPr>
      </p:pic>
      <p:sp>
        <p:nvSpPr>
          <p:cNvPr id="7" name="Rectangle 6"/>
          <p:cNvSpPr/>
          <p:nvPr/>
        </p:nvSpPr>
        <p:spPr>
          <a:xfrm>
            <a:off x="533400" y="2481853"/>
            <a:ext cx="6705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Formalization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: 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Extract precise security goals and threat models from natural language specification.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 </a:t>
            </a: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Modeling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Build formal protocol models in Tamarin Prover, including cryptographic functions and actor behaviors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spc="18" dirty="0">
                <a:solidFill>
                  <a:srgbClr val="2B2C30"/>
                </a:solidFill>
                <a:ea typeface="Playfair Display 1"/>
                <a:cs typeface="Playfair Display 1"/>
              </a:rPr>
              <a:t>Proof Construction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: Prove key properties like secrecy, agreement,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(</a:t>
            </a:r>
            <a:r>
              <a:rPr lang="en-US" altLang="en-US" sz="2000" spc="18" dirty="0" err="1" smtClean="0">
                <a:solidFill>
                  <a:srgbClr val="2B2C30"/>
                </a:solidFill>
                <a:ea typeface="Playfair Display 1"/>
                <a:cs typeface="Playfair Display 1"/>
              </a:rPr>
              <a:t>e.x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. </a:t>
            </a:r>
            <a:r>
              <a:rPr lang="en-US" altLang="en-US" sz="2000" b="1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lemma </a:t>
            </a:r>
            <a:r>
              <a:rPr lang="en-US" altLang="en-US" sz="2000" b="1" spc="18" dirty="0" err="1">
                <a:solidFill>
                  <a:srgbClr val="2B2C30"/>
                </a:solidFill>
                <a:ea typeface="Playfair Display 1"/>
                <a:cs typeface="Playfair Display 1"/>
              </a:rPr>
              <a:t>injective_commit_to_running</a:t>
            </a:r>
            <a:r>
              <a:rPr lang="en-US" altLang="en-US" sz="2000" spc="18" dirty="0">
                <a:solidFill>
                  <a:srgbClr val="2B2C30"/>
                </a:solidFill>
                <a:ea typeface="Playfair Display 1"/>
                <a:cs typeface="Playfair Display 1"/>
              </a:rPr>
              <a:t> using custom </a:t>
            </a:r>
            <a:r>
              <a:rPr lang="en-US" altLang="en-US" sz="2000" spc="18" dirty="0" smtClean="0">
                <a:solidFill>
                  <a:srgbClr val="2B2C30"/>
                </a:solidFill>
                <a:ea typeface="Playfair Display 1"/>
                <a:cs typeface="Playfair Display 1"/>
              </a:rPr>
              <a:t>strategies)</a:t>
            </a:r>
            <a:endParaRPr lang="en-US" altLang="en-US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7271701"/>
            <a:ext cx="1516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b="1" dirty="0"/>
              <a:t>Lab Focus:</a:t>
            </a:r>
            <a:r>
              <a:rPr lang="en-GB" sz="2400" dirty="0"/>
              <a:t> Custom rule injection, lemma extension, and trace validation under attack scenarios.</a:t>
            </a:r>
            <a:endParaRPr lang="en-GB" sz="2000" spc="18" dirty="0">
              <a:solidFill>
                <a:srgbClr val="2B2C30"/>
              </a:solidFill>
              <a:ea typeface="Playfair Display 1"/>
              <a:cs typeface="Playfair Display 1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146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4400" dirty="0" smtClean="0"/>
              <a:t>Researchers contribution VS my contribution: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077999"/>
              </p:ext>
            </p:extLst>
          </p:nvPr>
        </p:nvGraphicFramePr>
        <p:xfrm>
          <a:off x="1828800" y="2827326"/>
          <a:ext cx="127254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976782707"/>
                    </a:ext>
                  </a:extLst>
                </a:gridCol>
                <a:gridCol w="4792504">
                  <a:extLst>
                    <a:ext uri="{9D8B030D-6E8A-4147-A177-3AD203B41FA5}">
                      <a16:colId xmlns:a16="http://schemas.microsoft.com/office/drawing/2014/main" val="546380130"/>
                    </a:ext>
                  </a:extLst>
                </a:gridCol>
                <a:gridCol w="5646896">
                  <a:extLst>
                    <a:ext uri="{9D8B030D-6E8A-4147-A177-3AD203B41FA5}">
                      <a16:colId xmlns:a16="http://schemas.microsoft.com/office/drawing/2014/main" val="1557321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CCS18 Researchers</a:t>
                      </a:r>
                      <a:r>
                        <a:rPr lang="en-US" baseline="0" dirty="0" smtClean="0"/>
                        <a:t> work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My</a:t>
                      </a:r>
                      <a:r>
                        <a:rPr lang="en-US" baseline="0" dirty="0" smtClean="0"/>
                        <a:t> work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52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Goal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Comprehensive formal analysis of 5G AKA under various threat models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Explore targeted vulnerabilities and validate SUPI leakage behaviour.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44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Used model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Full formal Tamarin model with symbolic attacker and full AKA state machine.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Adapted CCS18 model to test custom leak and agreement conditions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Main verified lemmas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Authentication, secrecy, binding channel assumptions.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Leak of SUPI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dirty="0" smtClean="0"/>
                        <a:t>under certain conditions(trace simulation with/without rules)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01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Custom rule insertion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new rules: official 3GPP assumptions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OutSupi rule for simulating leakage conditions.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436095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134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3200" b="1" dirty="0"/>
              <a:t>My Contribution</a:t>
            </a:r>
            <a:r>
              <a:rPr lang="en-GB" sz="3200" dirty="0"/>
              <a:t>: Formal Verification and Attack Simulation </a:t>
            </a:r>
            <a:r>
              <a:rPr lang="en-GB" sz="3200" dirty="0" smtClean="0"/>
              <a:t>using </a:t>
            </a:r>
            <a:r>
              <a:rPr lang="en-GB" sz="3200" dirty="0"/>
              <a:t>Tamarin</a:t>
            </a:r>
            <a:endParaRPr lang="en-US" sz="32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8</a:t>
            </a:fld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524000" y="3467100"/>
            <a:ext cx="14478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/>
              <a:t>Model Adjustments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/>
              <a:t>Adapted CCS18 Tamarin model and assumptions to match lab goals.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/>
              <a:t>New Lemma Added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/>
              <a:t>Implemented </a:t>
            </a:r>
            <a:r>
              <a:rPr lang="en-US" altLang="en-US" sz="2800" dirty="0" err="1"/>
              <a:t>injective_commit_to_running</a:t>
            </a:r>
            <a:r>
              <a:rPr lang="en-US" altLang="en-US" sz="2800" dirty="0"/>
              <a:t> to verify session uniqueness.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/>
              <a:t>Attack Simulation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/>
              <a:t>Enabled </a:t>
            </a:r>
            <a:r>
              <a:rPr lang="en-US" altLang="en-US" sz="2800" dirty="0" err="1"/>
              <a:t>init_supi</a:t>
            </a:r>
            <a:r>
              <a:rPr lang="en-US" altLang="en-US" sz="2800" dirty="0"/>
              <a:t> and </a:t>
            </a:r>
            <a:r>
              <a:rPr lang="en-US" altLang="en-US" sz="2800" dirty="0" err="1"/>
              <a:t>leak_supi</a:t>
            </a:r>
            <a:r>
              <a:rPr lang="en-US" altLang="en-US" sz="2800" dirty="0"/>
              <a:t> rules → SUPI leakage observed.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/>
              <a:t>Fix &amp; Re-verification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/>
              <a:t>Disabled leak rules → model restored, </a:t>
            </a:r>
            <a:r>
              <a:rPr lang="en-US" altLang="en-US" sz="2800" dirty="0" err="1"/>
              <a:t>no_leak_of_supi</a:t>
            </a:r>
            <a:r>
              <a:rPr lang="en-US" altLang="en-US" sz="2800" dirty="0"/>
              <a:t> passed.</a:t>
            </a:r>
          </a:p>
        </p:txBody>
      </p:sp>
    </p:spTree>
    <p:extLst>
      <p:ext uri="{BB962C8B-B14F-4D97-AF65-F5344CB8AC3E}">
        <p14:creationId xmlns:p14="http://schemas.microsoft.com/office/powerpoint/2010/main" val="263502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4400" dirty="0" smtClean="0"/>
              <a:t>Injective agreement lemma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985042" y="2573157"/>
            <a:ext cx="81371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Injective</a:t>
            </a:r>
            <a:r>
              <a:rPr lang="en-GB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_commit_to_running</a:t>
            </a:r>
            <a:r>
              <a:rPr lang="en-GB" sz="2800" b="1" dirty="0" err="1" smtClean="0"/>
              <a:t>_</a:t>
            </a:r>
            <a:r>
              <a:rPr lang="en-GB" sz="2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agreement</a:t>
            </a:r>
            <a:r>
              <a:rPr lang="en-GB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GB" sz="2000" dirty="0" smtClean="0"/>
              <a:t>A </a:t>
            </a:r>
            <a:r>
              <a:rPr lang="en-GB" sz="2000" dirty="0"/>
              <a:t>property that each "</a:t>
            </a:r>
            <a:r>
              <a:rPr lang="en-GB" sz="2000" dirty="0" smtClean="0"/>
              <a:t>commit“ action </a:t>
            </a:r>
            <a:r>
              <a:rPr lang="en-GB" sz="2000" dirty="0"/>
              <a:t>at UE corresponds </a:t>
            </a:r>
            <a:r>
              <a:rPr lang="en-GB" sz="2000" dirty="0" smtClean="0"/>
              <a:t>to a </a:t>
            </a:r>
            <a:r>
              <a:rPr lang="en-GB" sz="2000" dirty="0"/>
              <a:t>unique "running" session </a:t>
            </a:r>
            <a:r>
              <a:rPr lang="en-GB" sz="2000" dirty="0" smtClean="0"/>
              <a:t>at SN.</a:t>
            </a:r>
            <a:endParaRPr lang="en-GB" sz="2000" dirty="0"/>
          </a:p>
        </p:txBody>
      </p:sp>
      <p:sp>
        <p:nvSpPr>
          <p:cNvPr id="6" name="Rectangle 5"/>
          <p:cNvSpPr/>
          <p:nvPr/>
        </p:nvSpPr>
        <p:spPr>
          <a:xfrm>
            <a:off x="1028695" y="3909757"/>
            <a:ext cx="4881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/>
              <a:t>prevents </a:t>
            </a:r>
            <a:r>
              <a:rPr lang="en-GB" sz="2000" b="1" dirty="0"/>
              <a:t>attacks </a:t>
            </a:r>
            <a:r>
              <a:rPr lang="en-GB" sz="2000" b="1" dirty="0" smtClean="0"/>
              <a:t>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smtClean="0"/>
              <a:t>replay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smtClean="0"/>
              <a:t>session duplication.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smtClean="0"/>
              <a:t>parallel sessions.</a:t>
            </a:r>
            <a:endParaRPr lang="en-GB" sz="20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94" b="100000" l="8187" r="91710">
                        <a14:foregroundMark x1="68808" y1="28235" x2="71295" y2="24559"/>
                        <a14:foregroundMark x1="34715" y1="33676" x2="36062" y2="28971"/>
                        <a14:foregroundMark x1="28187" y1="35735" x2="29119" y2="33382"/>
                        <a14:foregroundMark x1="35337" y1="16324" x2="34922" y2="12206"/>
                        <a14:foregroundMark x1="19689" y1="74412" x2="22902" y2="60000"/>
                        <a14:foregroundMark x1="51295" y1="81176" x2="54404" y2="71029"/>
                        <a14:foregroundMark x1="65907" y1="68529" x2="71295" y2="68529"/>
                        <a14:foregroundMark x1="80415" y1="65147" x2="83316" y2="71324"/>
                        <a14:foregroundMark x1="19482" y1="79853" x2="20725" y2="79853"/>
                        <a14:foregroundMark x1="71295" y1="36471" x2="73161" y2="34118"/>
                        <a14:foregroundMark x1="78756" y1="41618" x2="81865" y2="33676"/>
                        <a14:foregroundMark x1="73886" y1="44706" x2="66632" y2="45735"/>
                        <a14:foregroundMark x1="22176" y1="41912" x2="20725" y2="26176"/>
                        <a14:foregroundMark x1="84767" y1="77794" x2="83731" y2="716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2200" y="2096605"/>
            <a:ext cx="5029200" cy="2953244"/>
          </a:xfrm>
          <a:prstGeom prst="rect">
            <a:avLst/>
          </a:prstGeom>
          <a:ln>
            <a:solidFill>
              <a:srgbClr val="EFEEE7"/>
            </a:solidFill>
          </a:ln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894199" y="6591300"/>
            <a:ext cx="45897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Added This Lemma??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4199" y="7451009"/>
            <a:ext cx="5562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i="1" dirty="0"/>
              <a:t>Verification Outcome: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The lemma </a:t>
            </a:r>
            <a:r>
              <a:rPr lang="en-US" altLang="en-US" dirty="0" smtClean="0"/>
              <a:t>was </a:t>
            </a:r>
            <a:r>
              <a:rPr lang="en-US" altLang="en-US" dirty="0"/>
              <a:t>successfully verified using </a:t>
            </a:r>
            <a:r>
              <a:rPr lang="en-US" altLang="en-US" dirty="0" smtClean="0"/>
              <a:t>Tamarin confirms </a:t>
            </a:r>
            <a:r>
              <a:rPr lang="en-US" altLang="en-US" dirty="0"/>
              <a:t>that for each session at UE, there’s a unique corresponding session at SN.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" name="Line Callout 1 (Accent Bar) 11"/>
          <p:cNvSpPr/>
          <p:nvPr/>
        </p:nvSpPr>
        <p:spPr>
          <a:xfrm>
            <a:off x="6546265" y="5524500"/>
            <a:ext cx="8610600" cy="982075"/>
          </a:xfrm>
          <a:prstGeom prst="accentCallout1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perspectiveAbove"/>
              <a:lightRig rig="threePt" dir="t"/>
            </a:scene3d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Existing CCS18 lemmas ensure agreement but not injectivity.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Prevents cases where multiple commit actions could match a single running session (violates uniqueness).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265" y="7750355"/>
            <a:ext cx="8610600" cy="970967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5910631" y="8235838"/>
            <a:ext cx="546168" cy="1842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639" b="98595" l="0" r="97085">
                        <a14:foregroundMark x1="51020" y1="37237" x2="54227" y2="52693"/>
                        <a14:foregroundMark x1="45481" y1="18501" x2="36152" y2="15222"/>
                        <a14:foregroundMark x1="72012" y1="85480" x2="79592" y2="77283"/>
                        <a14:foregroundMark x1="20700" y1="78923" x2="42566" y2="77283"/>
                        <a14:foregroundMark x1="63557" y1="23653" x2="72012" y2="13817"/>
                        <a14:foregroundMark x1="76385" y1="9602" x2="79009" y2="3981"/>
                        <a14:foregroundMark x1="10496" y1="13349" x2="22157" y2="227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5392400" y="7750354"/>
            <a:ext cx="795354" cy="97096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725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1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3600" dirty="0"/>
              <a:t>Enabling Attack Traces: Rules and Lemmas for SUPI </a:t>
            </a:r>
            <a:r>
              <a:rPr lang="en-GB" sz="3600" dirty="0" smtClean="0"/>
              <a:t>Exposure</a:t>
            </a:r>
            <a:endParaRPr lang="en-US" sz="36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13351"/>
              </p:ext>
            </p:extLst>
          </p:nvPr>
        </p:nvGraphicFramePr>
        <p:xfrm>
          <a:off x="1290890" y="3314700"/>
          <a:ext cx="8497347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449">
                  <a:extLst>
                    <a:ext uri="{9D8B030D-6E8A-4147-A177-3AD203B41FA5}">
                      <a16:colId xmlns:a16="http://schemas.microsoft.com/office/drawing/2014/main" val="1795804748"/>
                    </a:ext>
                  </a:extLst>
                </a:gridCol>
                <a:gridCol w="2832449">
                  <a:extLst>
                    <a:ext uri="{9D8B030D-6E8A-4147-A177-3AD203B41FA5}">
                      <a16:colId xmlns:a16="http://schemas.microsoft.com/office/drawing/2014/main" val="4034283920"/>
                    </a:ext>
                  </a:extLst>
                </a:gridCol>
                <a:gridCol w="2832449">
                  <a:extLst>
                    <a:ext uri="{9D8B030D-6E8A-4147-A177-3AD203B41FA5}">
                      <a16:colId xmlns:a16="http://schemas.microsoft.com/office/drawing/2014/main" val="2490662104"/>
                    </a:ext>
                  </a:extLst>
                </a:gridCol>
              </a:tblGrid>
              <a:tr h="38169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Added rules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i="1" dirty="0" err="1" smtClean="0"/>
                        <a:t>init_supi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i="1" dirty="0" err="1" smtClean="0"/>
                        <a:t>leak_supi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129513"/>
                  </a:ext>
                </a:extLst>
              </a:tr>
              <a:tr h="155615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Description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/>
                        <a:t>A rule to initialize a session by the user equipment (UE) including the SUPI.</a:t>
                      </a:r>
                    </a:p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A rule to represent if an attacker has compromised such SUPI value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26861"/>
                  </a:ext>
                </a:extLst>
              </a:tr>
              <a:tr h="126254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Objective 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Allowing me to simulate an active session from UE to the network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000" dirty="0" smtClean="0"/>
                        <a:t>To simulate security breach where this sensitive identifier is exposed.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54168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95400" y="2672834"/>
            <a:ext cx="8492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enable trace generation </a:t>
            </a:r>
            <a:r>
              <a:rPr lang="en-GB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simulates </a:t>
            </a:r>
            <a:r>
              <a:rPr lang="en-GB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privacy violation (</a:t>
            </a:r>
            <a:r>
              <a:rPr lang="en-GB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SUPI leakage</a:t>
            </a:r>
            <a:r>
              <a:rPr lang="en-GB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685761"/>
              </p:ext>
            </p:extLst>
          </p:nvPr>
        </p:nvGraphicFramePr>
        <p:xfrm>
          <a:off x="1290890" y="6972300"/>
          <a:ext cx="849734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449">
                  <a:extLst>
                    <a:ext uri="{9D8B030D-6E8A-4147-A177-3AD203B41FA5}">
                      <a16:colId xmlns:a16="http://schemas.microsoft.com/office/drawing/2014/main" val="701863564"/>
                    </a:ext>
                  </a:extLst>
                </a:gridCol>
                <a:gridCol w="2832449">
                  <a:extLst>
                    <a:ext uri="{9D8B030D-6E8A-4147-A177-3AD203B41FA5}">
                      <a16:colId xmlns:a16="http://schemas.microsoft.com/office/drawing/2014/main" val="4252635231"/>
                    </a:ext>
                  </a:extLst>
                </a:gridCol>
                <a:gridCol w="2832449">
                  <a:extLst>
                    <a:ext uri="{9D8B030D-6E8A-4147-A177-3AD203B41FA5}">
                      <a16:colId xmlns:a16="http://schemas.microsoft.com/office/drawing/2014/main" val="2419082290"/>
                    </a:ext>
                  </a:extLst>
                </a:gridCol>
              </a:tblGrid>
              <a:tr h="380230"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US" sz="2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Added lemmas</a:t>
                      </a:r>
                      <a:endParaRPr lang="en-GB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GB" sz="20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supi_leaked</a:t>
                      </a:r>
                      <a:endParaRPr lang="en-GB" sz="2000" b="1" i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GB" sz="20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no_leak_of</a:t>
                      </a:r>
                      <a:r>
                        <a:rPr lang="en-GB" sz="20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0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supi</a:t>
                      </a:r>
                      <a:endParaRPr lang="en-GB" sz="2000" b="1" i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27359"/>
                  </a:ext>
                </a:extLst>
              </a:tr>
              <a:tr h="1257685"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lemma that proves SUPI could be exposed in loose security settings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GB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lemma that proves SUPI remains secretin strict security settings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812216"/>
                  </a:ext>
                </a:extLst>
              </a:tr>
              <a:tr h="1257685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Objective 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GB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validates the ability of SUPI to be accessed under certain conditions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GB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demonstrates the capability to protect the SUPI from leaked</a:t>
                      </a:r>
                      <a:endParaRPr lang="en-GB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745077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10</a:t>
            </a:fld>
            <a:endParaRPr lang="en-US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327" y="7149968"/>
            <a:ext cx="5831764" cy="21083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433" y="3619500"/>
            <a:ext cx="5920803" cy="21472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6109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GB" sz="4400" dirty="0"/>
              <a:t>Attack Injection and </a:t>
            </a:r>
            <a:r>
              <a:rPr lang="en-GB" sz="4400" dirty="0" smtClean="0"/>
              <a:t>Privacy Violation:</a:t>
            </a:r>
            <a:endParaRPr lang="en-US" sz="4400" b="1" i="1" spc="40" dirty="0">
              <a:solidFill>
                <a:srgbClr val="2B2C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 1"/>
              <a:ea typeface="Playfair Display 1"/>
              <a:cs typeface="Playfair Display 1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1028695" y="3790444"/>
            <a:ext cx="9144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b="1" dirty="0"/>
              <a:t>Attack </a:t>
            </a:r>
            <a:r>
              <a:rPr lang="en-GB" sz="2000" b="1" dirty="0" smtClean="0"/>
              <a:t>Injection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 Enabled </a:t>
            </a:r>
            <a:r>
              <a:rPr lang="en-GB" sz="2000" dirty="0"/>
              <a:t>"</a:t>
            </a:r>
            <a:r>
              <a:rPr lang="en-GB" sz="2000" b="1" dirty="0" err="1"/>
              <a:t>init_supi</a:t>
            </a:r>
            <a:r>
              <a:rPr lang="en-GB" sz="2000" dirty="0"/>
              <a:t>" and "</a:t>
            </a:r>
            <a:r>
              <a:rPr lang="en-GB" sz="2000" b="1" dirty="0" err="1"/>
              <a:t>leak_supi</a:t>
            </a:r>
            <a:r>
              <a:rPr lang="en-GB" sz="2000" dirty="0"/>
              <a:t>" </a:t>
            </a:r>
            <a:r>
              <a:rPr lang="en-GB" sz="2000" dirty="0" smtClean="0"/>
              <a:t>rules to </a:t>
            </a:r>
            <a:r>
              <a:rPr lang="en-GB" sz="2000" dirty="0"/>
              <a:t>simulate an attack</a:t>
            </a:r>
            <a:r>
              <a:rPr lang="en-GB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 </a:t>
            </a:r>
            <a:r>
              <a:rPr lang="en-GB" sz="2000" dirty="0"/>
              <a:t>Proved the lemma "</a:t>
            </a:r>
            <a:r>
              <a:rPr lang="en-GB" sz="2000" b="1" dirty="0" err="1" smtClean="0"/>
              <a:t>supi_leaked</a:t>
            </a:r>
            <a:r>
              <a:rPr lang="en-GB" sz="2000" dirty="0"/>
              <a:t> " </a:t>
            </a:r>
            <a:r>
              <a:rPr lang="en-GB" sz="2000" dirty="0" smtClean="0"/>
              <a:t>holds </a:t>
            </a:r>
            <a:r>
              <a:rPr lang="en-GB" sz="2000" dirty="0"/>
              <a:t>and </a:t>
            </a:r>
            <a:r>
              <a:rPr lang="en-GB" sz="2000" dirty="0" smtClean="0"/>
              <a:t>the lemma </a:t>
            </a:r>
            <a:r>
              <a:rPr lang="en-GB" sz="2000" dirty="0"/>
              <a:t>"</a:t>
            </a:r>
            <a:r>
              <a:rPr lang="en-GB" sz="2000" b="1" dirty="0" err="1"/>
              <a:t>no_leak_of_supi</a:t>
            </a:r>
            <a:r>
              <a:rPr lang="en-GB" sz="2000" dirty="0"/>
              <a:t>" fails</a:t>
            </a:r>
            <a:r>
              <a:rPr lang="en-GB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588273"/>
            <a:ext cx="9144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b="1" dirty="0"/>
              <a:t>Why This Test</a:t>
            </a:r>
            <a:r>
              <a:rPr lang="en-GB" sz="2000" b="1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Demonstrates </a:t>
            </a:r>
            <a:r>
              <a:rPr lang="en-GB" sz="2000" dirty="0"/>
              <a:t>how an attack can lead to the </a:t>
            </a:r>
            <a:r>
              <a:rPr lang="en-GB" sz="2000" dirty="0" smtClean="0"/>
              <a:t>compromise of </a:t>
            </a:r>
            <a:r>
              <a:rPr lang="en-GB" sz="2000" dirty="0"/>
              <a:t>the SUPI value under certain rule activations.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8" b="100000" l="355" r="100000">
                        <a14:foregroundMark x1="13830" y1="50769" x2="13121" y2="35385"/>
                        <a14:foregroundMark x1="28723" y1="46769" x2="28723" y2="37231"/>
                        <a14:foregroundMark x1="44326" y1="22154" x2="41489" y2="10462"/>
                        <a14:foregroundMark x1="63830" y1="71692" x2="63121" y2="56000"/>
                        <a14:foregroundMark x1="81560" y1="88308" x2="75177" y2="74769"/>
                        <a14:foregroundMark x1="59929" y1="87077" x2="63830" y2="87077"/>
                        <a14:foregroundMark x1="42908" y1="85846" x2="55674" y2="80000"/>
                        <a14:foregroundMark x1="36879" y1="54154" x2="41489" y2="412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53160" y="3477306"/>
            <a:ext cx="3610640" cy="296159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06871" y="2844147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Adding a leak rule is a common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 verification technique </a:t>
            </a:r>
            <a:r>
              <a:rPr lang="en-GB" dirty="0"/>
              <a:t>to evaluate if the protocol's privacy guarantees depend solely on ideal </a:t>
            </a:r>
            <a:r>
              <a:rPr lang="en-GB" dirty="0" smtClean="0"/>
              <a:t>assumptions.</a:t>
            </a:r>
            <a:endParaRPr lang="en-GB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676400" y="7224849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ommented rules = ideal world → SUPI is safe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Uncommented rules = realistic test → SUPI can leak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95" y="8496300"/>
            <a:ext cx="79303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Conclusion</a:t>
            </a:r>
            <a:r>
              <a:rPr lang="en-US" altLang="en-US" dirty="0">
                <a:latin typeface="Arial" panose="020B0604020202020204" pitchFamily="34" charset="0"/>
              </a:rPr>
              <a:t>: SUPI secrecy is not guaranteed without stricter assumptions.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784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4400" dirty="0">
                <a:sym typeface="Public Sans Bold"/>
              </a:rPr>
              <a:t>Fixes and Re-verification</a:t>
            </a: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402" y="3119397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b="1" i="1" dirty="0"/>
              <a:t>Fix </a:t>
            </a:r>
            <a:r>
              <a:rPr lang="en-GB" sz="2400" b="1" i="1" dirty="0" smtClean="0"/>
              <a:t>Applied</a:t>
            </a:r>
            <a:r>
              <a:rPr lang="en-GB" sz="2400" dirty="0" smtClean="0"/>
              <a:t>:</a:t>
            </a:r>
            <a:r>
              <a:rPr lang="en-GB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Commented rules = ideal world → SUPI is </a:t>
            </a:r>
            <a:r>
              <a:rPr lang="en-US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safe)</a:t>
            </a:r>
            <a:endParaRPr lang="en-GB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Re-commented </a:t>
            </a:r>
            <a:r>
              <a:rPr lang="en-GB" sz="2400" dirty="0"/>
              <a:t>the </a:t>
            </a:r>
            <a:r>
              <a:rPr lang="en-GB" sz="2400" dirty="0" err="1" smtClean="0"/>
              <a:t>init</a:t>
            </a:r>
            <a:r>
              <a:rPr lang="en-GB" sz="2400" dirty="0" err="1"/>
              <a:t>_</a:t>
            </a:r>
            <a:r>
              <a:rPr lang="en-GB" sz="2400" dirty="0" err="1" smtClean="0"/>
              <a:t>supi</a:t>
            </a:r>
            <a:r>
              <a:rPr lang="en-GB" sz="2400" dirty="0" smtClean="0"/>
              <a:t> and </a:t>
            </a:r>
            <a:r>
              <a:rPr lang="en-GB" sz="2400" dirty="0" err="1" smtClean="0"/>
              <a:t>leak_supi</a:t>
            </a:r>
            <a:r>
              <a:rPr lang="en-GB" sz="2400" dirty="0" smtClean="0"/>
              <a:t> </a:t>
            </a:r>
            <a:r>
              <a:rPr lang="en-GB" sz="2400" dirty="0"/>
              <a:t>rules to restore the original </a:t>
            </a:r>
            <a:r>
              <a:rPr lang="en-GB" sz="2400" dirty="0" smtClean="0"/>
              <a:t>model assumptions</a:t>
            </a:r>
            <a:r>
              <a:rPr lang="en-GB" sz="24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577" y="5152944"/>
            <a:ext cx="5715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i="1" dirty="0" smtClean="0"/>
              <a:t>Re-Verification </a:t>
            </a:r>
            <a:r>
              <a:rPr lang="en-GB" sz="2400" b="1" i="1" dirty="0"/>
              <a:t>Outcome: </a:t>
            </a:r>
            <a:endParaRPr lang="en-GB" sz="2400" b="1" i="1" dirty="0" smtClean="0"/>
          </a:p>
        </p:txBody>
      </p:sp>
      <p:sp>
        <p:nvSpPr>
          <p:cNvPr id="9" name="Rectangle 8"/>
          <p:cNvSpPr/>
          <p:nvPr/>
        </p:nvSpPr>
        <p:spPr>
          <a:xfrm>
            <a:off x="457200" y="5829300"/>
            <a:ext cx="9144000" cy="11138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upi_leaked</a:t>
            </a:r>
            <a:r>
              <a:rPr lang="en-US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= </a:t>
            </a: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unsatisfied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→ </a:t>
            </a:r>
            <a:r>
              <a:rPr lang="en-GB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SUPI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is not </a:t>
            </a:r>
            <a:r>
              <a:rPr lang="en-GB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leaked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no_leak_of_supi</a:t>
            </a:r>
            <a:r>
              <a:rPr lang="en-US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=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successfully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solved</a:t>
            </a:r>
            <a:r>
              <a:rPr lang="en-US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→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SUPI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is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secure</a:t>
            </a:r>
            <a:endParaRPr lang="en-US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604" y="2683274"/>
            <a:ext cx="6057192" cy="49393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12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2772362"/>
            <a:ext cx="9067800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434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Playfair Display 1"/>
              </a:rPr>
              <a:t>Realistic </a:t>
            </a:r>
            <a:r>
              <a:rPr lang="en-US" sz="2400" dirty="0">
                <a:sym typeface="Playfair Display 1"/>
              </a:rPr>
              <a:t>model exposed </a:t>
            </a:r>
            <a:r>
              <a:rPr lang="en-US" sz="2400" dirty="0" smtClean="0">
                <a:sym typeface="Playfair Display 1"/>
              </a:rPr>
              <a:t>privacy weaknesses </a:t>
            </a:r>
            <a:r>
              <a:rPr lang="en-US" sz="2400" dirty="0">
                <a:sym typeface="Playfair Display 1"/>
              </a:rPr>
              <a:t>by showing leakage of SUPI.</a:t>
            </a:r>
          </a:p>
          <a:p>
            <a:pPr marL="342900" indent="-342900">
              <a:lnSpc>
                <a:spcPts val="4434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Playfair Display 1"/>
              </a:rPr>
              <a:t>Ideal </a:t>
            </a:r>
            <a:r>
              <a:rPr lang="en-US" sz="2400" dirty="0">
                <a:sym typeface="Playfair Display 1"/>
              </a:rPr>
              <a:t>model, with stricter assumptions</a:t>
            </a:r>
            <a:r>
              <a:rPr lang="en-US" sz="2400" dirty="0" smtClean="0">
                <a:sym typeface="Playfair Display 1"/>
              </a:rPr>
              <a:t>, prevented </a:t>
            </a:r>
            <a:r>
              <a:rPr lang="en-US" sz="2400" dirty="0">
                <a:sym typeface="Playfair Display 1"/>
              </a:rPr>
              <a:t>SUPI leakage.</a:t>
            </a:r>
          </a:p>
          <a:p>
            <a:pPr marL="342900" indent="-342900">
              <a:lnSpc>
                <a:spcPts val="4434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Playfair Display 1"/>
              </a:rPr>
              <a:t>Adding </a:t>
            </a:r>
            <a:r>
              <a:rPr lang="en-US" sz="2400" dirty="0">
                <a:sym typeface="Playfair Display 1"/>
              </a:rPr>
              <a:t>a 'leak' rule helped </a:t>
            </a:r>
            <a:r>
              <a:rPr lang="en-US" sz="2400" dirty="0" smtClean="0">
                <a:sym typeface="Playfair Display 1"/>
              </a:rPr>
              <a:t>demonstrate protocol's </a:t>
            </a:r>
            <a:r>
              <a:rPr lang="en-US" sz="2400" dirty="0">
                <a:sym typeface="Playfair Display 1"/>
              </a:rPr>
              <a:t>reliance on specific assumptions.</a:t>
            </a:r>
          </a:p>
          <a:p>
            <a:pPr marL="342900" indent="-342900">
              <a:lnSpc>
                <a:spcPts val="4434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Playfair Display 1"/>
              </a:rPr>
              <a:t>Injective </a:t>
            </a:r>
            <a:r>
              <a:rPr lang="en-US" sz="2400" dirty="0">
                <a:sym typeface="Playfair Display 1"/>
              </a:rPr>
              <a:t>agreement lemma shows </a:t>
            </a:r>
            <a:r>
              <a:rPr lang="en-US" sz="2400" dirty="0" smtClean="0">
                <a:sym typeface="Playfair Display 1"/>
              </a:rPr>
              <a:t>potential necessity </a:t>
            </a:r>
            <a:r>
              <a:rPr lang="en-US" sz="2400" dirty="0">
                <a:sym typeface="Playfair Display 1"/>
              </a:rPr>
              <a:t>of adopting injective lemmas </a:t>
            </a:r>
            <a:r>
              <a:rPr lang="en-US" sz="2400" dirty="0" smtClean="0">
                <a:sym typeface="Playfair Display 1"/>
              </a:rPr>
              <a:t>to strengthen </a:t>
            </a:r>
            <a:r>
              <a:rPr lang="en-US" sz="2400" dirty="0">
                <a:sym typeface="Playfair Display 1"/>
              </a:rPr>
              <a:t>protocol </a:t>
            </a:r>
            <a:r>
              <a:rPr lang="en-US" sz="2400" dirty="0" smtClean="0">
                <a:sym typeface="Playfair Display 1"/>
              </a:rPr>
              <a:t>verification.</a:t>
            </a:r>
            <a:endParaRPr lang="en-US" sz="2400" dirty="0">
              <a:sym typeface="Playfair Display 1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9271" y="10953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4400" dirty="0" smtClean="0">
                <a:sym typeface="Public Sans Bold"/>
              </a:rPr>
              <a:t>Conclusion</a:t>
            </a:r>
            <a:endParaRPr lang="en-US" sz="4400" dirty="0">
              <a:sym typeface="Public Sans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5" b="97721" l="2524" r="97792">
                        <a14:foregroundMark x1="22082" y1="81197" x2="24921" y2="78348"/>
                        <a14:foregroundMark x1="22713" y1="64957" x2="25237" y2="62678"/>
                        <a14:foregroundMark x1="24290" y1="49573" x2="26183" y2="48148"/>
                        <a14:foregroundMark x1="28391" y1="30769" x2="26814" y2="31339"/>
                        <a14:foregroundMark x1="46688" y1="31624" x2="48580" y2="31054"/>
                        <a14:foregroundMark x1="44164" y1="35328" x2="49842" y2="35328"/>
                        <a14:foregroundMark x1="61199" y1="46154" x2="61199" y2="46154"/>
                        <a14:foregroundMark x1="61199" y1="46154" x2="61199" y2="46154"/>
                        <a14:foregroundMark x1="54890" y1="50712" x2="54890" y2="50712"/>
                        <a14:foregroundMark x1="54890" y1="50712" x2="54890" y2="50712"/>
                        <a14:foregroundMark x1="55205" y1="60684" x2="55205" y2="60684"/>
                        <a14:foregroundMark x1="55205" y1="60684" x2="55205" y2="60684"/>
                        <a14:foregroundMark x1="50473" y1="66097" x2="50473" y2="66097"/>
                        <a14:foregroundMark x1="50473" y1="66097" x2="50473" y2="66097"/>
                        <a14:foregroundMark x1="50789" y1="76068" x2="50789" y2="76068"/>
                        <a14:foregroundMark x1="50789" y1="76068" x2="50789" y2="760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82400" y="2324290"/>
            <a:ext cx="4886134" cy="54102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13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3507099"/>
            <a:ext cx="14604529" cy="250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115" lvl="1" indent="-330057">
              <a:lnSpc>
                <a:spcPct val="150000"/>
              </a:lnSpc>
              <a:buFont typeface="Arial"/>
              <a:buChar char="•"/>
            </a:pP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Introduce key-confirmation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before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a session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is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initialized.</a:t>
            </a:r>
          </a:p>
          <a:p>
            <a:pPr marL="78725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Refine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the </a:t>
            </a:r>
            <a:r>
              <a:rPr lang="en-GB" sz="2800" spc="15" dirty="0" err="1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init_supi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 rule with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stricter conditions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to prevent SUPI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leakage</a:t>
            </a:r>
          </a:p>
          <a:p>
            <a:pPr marL="78725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Develop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stronger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cryptographic bindings </a:t>
            </a:r>
            <a:r>
              <a:rPr lang="en-GB" sz="2800" spc="15" dirty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between SN and HN to </a:t>
            </a:r>
            <a:r>
              <a:rPr lang="en-GB" sz="2800" spc="15" dirty="0" smtClean="0">
                <a:solidFill>
                  <a:srgbClr val="2B2C30"/>
                </a:solidFill>
                <a:ea typeface="Playfair Display 1"/>
                <a:cs typeface="Playfair Display 1"/>
                <a:sym typeface="Playfair Display 1"/>
              </a:rPr>
              <a:t>ensure injective agreement.</a:t>
            </a:r>
            <a:endParaRPr lang="en-US" sz="2800" spc="15" dirty="0">
              <a:solidFill>
                <a:srgbClr val="2B2C30"/>
              </a:solidFill>
              <a:ea typeface="Playfair Display 1"/>
              <a:cs typeface="Playfair Display 1"/>
              <a:sym typeface="Playfair Display 1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4400" dirty="0">
                <a:sym typeface="Public Sans Bold"/>
              </a:rPr>
              <a:t>Future</a:t>
            </a:r>
            <a:r>
              <a:rPr lang="en-US" sz="3714" b="1" spc="843" dirty="0" smtClean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4400" dirty="0">
                <a:sym typeface="Public Sans Bold"/>
              </a:rPr>
              <a:t>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14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06882" y="4728792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NOUR HMEEDAN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0974" y="2332416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37023" y="9697508"/>
            <a:ext cx="222277" cy="26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657" spc="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47" b="98343" l="574" r="98853">
                        <a14:foregroundMark x1="51052" y1="24862" x2="34417" y2="55801"/>
                        <a14:foregroundMark x1="28681" y1="77716" x2="30210" y2="87661"/>
                        <a14:foregroundMark x1="60421" y1="55801" x2="59273" y2="52302"/>
                        <a14:foregroundMark x1="71511" y1="53775" x2="71893" y2="51565"/>
                        <a14:foregroundMark x1="84704" y1="55064" x2="84704" y2="52670"/>
                        <a14:foregroundMark x1="57935" y1="78453" x2="63480" y2="75322"/>
                      </a14:backgroundRemoval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03569">
            <a:off x="9723871" y="5953294"/>
            <a:ext cx="3121754" cy="324113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z="1800" smtClean="0"/>
              <a:pPr/>
              <a:t>15</a:t>
            </a:fld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3973</TotalTime>
  <Words>1135</Words>
  <Application>Microsoft Office PowerPoint</Application>
  <PresentationFormat>Custom</PresentationFormat>
  <Paragraphs>164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Playfair Display 1</vt:lpstr>
      <vt:lpstr>Wingdings 2</vt:lpstr>
      <vt:lpstr>Public Sans Bold</vt:lpstr>
      <vt:lpstr>Calibri</vt:lpstr>
      <vt:lpstr>Public Sans</vt:lpstr>
      <vt:lpstr>Wingdings</vt:lpstr>
      <vt:lpstr>Arial</vt:lpstr>
      <vt:lpstr>Century Schoolbook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dc:creator>Nour</dc:creator>
  <cp:lastModifiedBy>Nour</cp:lastModifiedBy>
  <cp:revision>70</cp:revision>
  <dcterms:created xsi:type="dcterms:W3CDTF">2006-08-16T00:00:00Z</dcterms:created>
  <dcterms:modified xsi:type="dcterms:W3CDTF">2025-06-21T19:53:54Z</dcterms:modified>
  <dc:identifier>DAGoZAZZmqY</dc:identifier>
</cp:coreProperties>
</file>